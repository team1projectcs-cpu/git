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  <p:sldId id="267" r:id="rId9"/>
    <p:sldId id="265" r:id="rId10"/>
  </p:sldIdLst>
  <p:sldSz cx="18288000" cy="10287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74B1"/>
    <a:srgbClr val="430DC9"/>
    <a:srgbClr val="4A17B1"/>
    <a:srgbClr val="314EA1"/>
    <a:srgbClr val="0D30C3"/>
    <a:srgbClr val="3D4D93"/>
    <a:srgbClr val="18131F"/>
    <a:srgbClr val="3C1A56"/>
    <a:srgbClr val="344C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-756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B9E17A-94E7-4512-A0DA-A2D37D44DF3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18608-A1E7-46FC-8C77-088E2C12EF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776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D1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4359304" y="488689"/>
            <a:ext cx="2513081" cy="251308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29410" y="7236435"/>
            <a:ext cx="1586288" cy="158628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657868" y="582523"/>
            <a:ext cx="1943084" cy="1891211"/>
          </a:xfrm>
          <a:custGeom>
            <a:avLst/>
            <a:gdLst/>
            <a:ahLst/>
            <a:cxnLst/>
            <a:rect l="l" t="t" r="r" b="b"/>
            <a:pathLst>
              <a:path w="1625778" h="1891211">
                <a:moveTo>
                  <a:pt x="0" y="0"/>
                </a:moveTo>
                <a:lnTo>
                  <a:pt x="1625777" y="0"/>
                </a:lnTo>
                <a:lnTo>
                  <a:pt x="1625777" y="1891211"/>
                </a:lnTo>
                <a:lnTo>
                  <a:pt x="0" y="18912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749678" y="582523"/>
            <a:ext cx="11125362" cy="15132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000" dirty="0">
                <a:solidFill>
                  <a:srgbClr val="0D30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VIDYAVARDHAKA POLYTECHNIC MYSORE</a:t>
            </a:r>
          </a:p>
          <a:p>
            <a:pPr algn="ctr">
              <a:lnSpc>
                <a:spcPts val="5879"/>
              </a:lnSpc>
            </a:pPr>
            <a:r>
              <a:rPr lang="en-US" sz="4000" dirty="0" err="1">
                <a:solidFill>
                  <a:srgbClr val="0D30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Gokulam</a:t>
            </a:r>
            <a:r>
              <a:rPr lang="en-US" sz="4000" dirty="0">
                <a:solidFill>
                  <a:srgbClr val="0D30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III Stage Mysore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93457" y="2137792"/>
            <a:ext cx="6037804" cy="1256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5500" dirty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-231503" y="3436745"/>
            <a:ext cx="17833703" cy="83356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500" b="1" dirty="0" smtClean="0">
                <a:solidFill>
                  <a:srgbClr val="1813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Biometric-Based Voter Authentication and Receipt Generation System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5599"/>
              </a:lnSpc>
              <a:spcBef>
                <a:spcPct val="0"/>
              </a:spcBef>
            </a:pPr>
            <a:endParaRPr lang="en-US" sz="3500" dirty="0">
              <a:solidFill>
                <a:srgbClr val="1813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500" dirty="0">
                <a:solidFill>
                  <a:srgbClr val="1813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Subtitle: Continuous Internal Evaluation – </a:t>
            </a:r>
            <a:r>
              <a:rPr lang="en-US" sz="3500" dirty="0" smtClean="0">
                <a:solidFill>
                  <a:srgbClr val="1813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lang="en-US" sz="3500" dirty="0">
              <a:solidFill>
                <a:srgbClr val="1813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5319"/>
              </a:lnSpc>
              <a:spcBef>
                <a:spcPct val="0"/>
              </a:spcBef>
            </a:pPr>
            <a:endParaRPr lang="en-US" sz="37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r">
              <a:lnSpc>
                <a:spcPts val="5319"/>
              </a:lnSpc>
              <a:spcBef>
                <a:spcPct val="0"/>
              </a:spcBef>
            </a:pPr>
            <a:r>
              <a:rPr lang="en-US" sz="3200" dirty="0">
                <a:solidFill>
                  <a:srgbClr val="3C1A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   </a:t>
            </a:r>
            <a:r>
              <a:rPr lang="en-US" sz="3200" dirty="0" smtClean="0">
                <a:solidFill>
                  <a:srgbClr val="3C1A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</a:t>
            </a:r>
            <a:r>
              <a:rPr lang="en-US" sz="3200" dirty="0">
                <a:solidFill>
                  <a:srgbClr val="3C1A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488CS23010</a:t>
            </a:r>
          </a:p>
          <a:p>
            <a:pPr algn="r">
              <a:lnSpc>
                <a:spcPts val="5319"/>
              </a:lnSpc>
              <a:spcBef>
                <a:spcPct val="0"/>
              </a:spcBef>
            </a:pPr>
            <a:r>
              <a:rPr lang="en-US" sz="3200" dirty="0">
                <a:solidFill>
                  <a:srgbClr val="3C1A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488CS23014</a:t>
            </a:r>
          </a:p>
          <a:p>
            <a:pPr algn="r">
              <a:lnSpc>
                <a:spcPts val="5319"/>
              </a:lnSpc>
              <a:spcBef>
                <a:spcPct val="0"/>
              </a:spcBef>
            </a:pPr>
            <a:r>
              <a:rPr lang="en-US" sz="3200" dirty="0">
                <a:solidFill>
                  <a:srgbClr val="3C1A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488CS23015</a:t>
            </a:r>
          </a:p>
          <a:p>
            <a:pPr algn="r">
              <a:lnSpc>
                <a:spcPts val="5319"/>
              </a:lnSpc>
              <a:spcBef>
                <a:spcPct val="0"/>
              </a:spcBef>
            </a:pPr>
            <a:r>
              <a:rPr lang="en-US" sz="3200" dirty="0">
                <a:solidFill>
                  <a:srgbClr val="3C1A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488CS23024</a:t>
            </a:r>
          </a:p>
          <a:p>
            <a:pPr algn="r">
              <a:lnSpc>
                <a:spcPts val="5319"/>
              </a:lnSpc>
              <a:spcBef>
                <a:spcPct val="0"/>
              </a:spcBef>
            </a:pPr>
            <a:r>
              <a:rPr lang="en-US" sz="3200" dirty="0" smtClean="0">
                <a:solidFill>
                  <a:srgbClr val="3C1A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(Team-1</a:t>
            </a:r>
            <a:r>
              <a:rPr lang="en-US" sz="3200" dirty="0">
                <a:solidFill>
                  <a:srgbClr val="3C1A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endParaRPr lang="en-US" sz="37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13999"/>
              </a:lnSpc>
              <a:spcBef>
                <a:spcPct val="0"/>
              </a:spcBef>
            </a:pPr>
            <a:endParaRPr lang="en-US" sz="37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331259" y="6129333"/>
            <a:ext cx="3730795" cy="256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9"/>
              </a:lnSpc>
            </a:pPr>
            <a:r>
              <a:rPr lang="en-US" sz="3200" dirty="0" err="1">
                <a:solidFill>
                  <a:srgbClr val="3C1A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Deekshith</a:t>
            </a:r>
            <a:r>
              <a:rPr lang="en-US" sz="3200" dirty="0">
                <a:solidFill>
                  <a:srgbClr val="3C1A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</a:t>
            </a:r>
          </a:p>
          <a:p>
            <a:pPr algn="l">
              <a:lnSpc>
                <a:spcPts val="5320"/>
              </a:lnSpc>
            </a:pPr>
            <a:r>
              <a:rPr lang="en-US" sz="3200" dirty="0" err="1">
                <a:solidFill>
                  <a:srgbClr val="3C1A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Dhanushree</a:t>
            </a:r>
            <a:r>
              <a:rPr lang="en-US" sz="3200" dirty="0">
                <a:solidFill>
                  <a:srgbClr val="3C1A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</a:t>
            </a:r>
          </a:p>
          <a:p>
            <a:pPr algn="l">
              <a:lnSpc>
                <a:spcPts val="4906"/>
              </a:lnSpc>
            </a:pPr>
            <a:r>
              <a:rPr lang="en-US" sz="3200" dirty="0" err="1">
                <a:solidFill>
                  <a:srgbClr val="3C1A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Dheeraj</a:t>
            </a:r>
            <a:r>
              <a:rPr lang="en-US" sz="3200" dirty="0">
                <a:solidFill>
                  <a:srgbClr val="3C1A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dirty="0" smtClean="0">
                <a:solidFill>
                  <a:srgbClr val="3C1A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Gowda </a:t>
            </a:r>
            <a:r>
              <a:rPr lang="en-US" sz="3200" dirty="0">
                <a:solidFill>
                  <a:srgbClr val="3C1A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J</a:t>
            </a:r>
          </a:p>
          <a:p>
            <a:pPr algn="l">
              <a:lnSpc>
                <a:spcPts val="4879"/>
              </a:lnSpc>
              <a:spcBef>
                <a:spcPct val="0"/>
              </a:spcBef>
            </a:pPr>
            <a:r>
              <a:rPr lang="en-US" sz="3200" dirty="0" err="1">
                <a:solidFill>
                  <a:srgbClr val="3C1A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Hemalatha</a:t>
            </a:r>
            <a:r>
              <a:rPr lang="en-US" sz="3200" dirty="0">
                <a:solidFill>
                  <a:srgbClr val="3C1A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37826" y="5410878"/>
            <a:ext cx="5905850" cy="6003200"/>
            <a:chOff x="0" y="0"/>
            <a:chExt cx="810886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0886" cy="812800"/>
            </a:xfrm>
            <a:custGeom>
              <a:avLst/>
              <a:gdLst/>
              <a:ahLst/>
              <a:cxnLst/>
              <a:rect l="l" t="t" r="r" b="b"/>
              <a:pathLst>
                <a:path w="810886" h="812800">
                  <a:moveTo>
                    <a:pt x="405443" y="0"/>
                  </a:moveTo>
                  <a:cubicBezTo>
                    <a:pt x="181523" y="0"/>
                    <a:pt x="0" y="181951"/>
                    <a:pt x="0" y="406400"/>
                  </a:cubicBezTo>
                  <a:cubicBezTo>
                    <a:pt x="0" y="630849"/>
                    <a:pt x="181523" y="812800"/>
                    <a:pt x="405443" y="812800"/>
                  </a:cubicBezTo>
                  <a:cubicBezTo>
                    <a:pt x="629363" y="812800"/>
                    <a:pt x="810886" y="630849"/>
                    <a:pt x="810886" y="406400"/>
                  </a:cubicBezTo>
                  <a:cubicBezTo>
                    <a:pt x="810886" y="181951"/>
                    <a:pt x="629363" y="0"/>
                    <a:pt x="405443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021" y="38100"/>
              <a:ext cx="658845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526452" y="-1733373"/>
            <a:ext cx="3517329" cy="351732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276242" y="-767852"/>
            <a:ext cx="1586288" cy="158628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52400" y="-34580"/>
            <a:ext cx="6731600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525"/>
              </a:lnSpc>
              <a:spcBef>
                <a:spcPct val="0"/>
              </a:spcBef>
            </a:pPr>
            <a:r>
              <a:rPr lang="en-US" sz="4500" b="1" dirty="0">
                <a:solidFill>
                  <a:srgbClr val="430DC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Scope Document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3937" y="1600866"/>
            <a:ext cx="1530588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design and implement a secure </a:t>
            </a:r>
            <a:r>
              <a:rPr lang="en-US" sz="28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electronic 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voting system using biometric fingerprint authentication.</a:t>
            </a:r>
          </a:p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ensure accurate voter identification, secure vote casting, and prevention of duplicate voting.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7908" y="876371"/>
            <a:ext cx="2961563" cy="7875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3500" dirty="0" smtClean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lang="en-US" sz="3500" dirty="0">
              <a:solidFill>
                <a:schemeClr val="tx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143283" y="3455458"/>
            <a:ext cx="11803628" cy="5169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72" lvl="1" indent="-345436" algn="l">
              <a:lnSpc>
                <a:spcPts val="447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 of a microcontroller-based biometric voting system</a:t>
            </a:r>
            <a:r>
              <a:rPr lang="en-US" sz="28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lang="en-US" sz="2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43834" y="2744945"/>
            <a:ext cx="1448998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3500" dirty="0" smtClean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</a:t>
            </a:r>
            <a:endParaRPr lang="en-US" sz="3500" dirty="0">
              <a:solidFill>
                <a:schemeClr val="tx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93937" y="4176242"/>
            <a:ext cx="1231427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00" dirty="0" smtClean="0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Goals</a:t>
            </a:r>
            <a:endParaRPr lang="en-US" sz="3500" dirty="0">
              <a:solidFill>
                <a:srgbClr val="00357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93937" y="4706604"/>
            <a:ext cx="9435019" cy="1208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12462" lvl="1" indent="-356231">
              <a:lnSpc>
                <a:spcPts val="461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Authenticate voters using fingerprint biometrics</a:t>
            </a:r>
          </a:p>
          <a:p>
            <a:pPr marL="712462" lvl="1" indent="-356231">
              <a:lnSpc>
                <a:spcPts val="461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transparency, security, and efficiency in elections</a:t>
            </a:r>
            <a:r>
              <a:rPr lang="en-US" sz="28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</a:t>
            </a:r>
            <a:endParaRPr lang="en-US" sz="2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95026" y="5929209"/>
            <a:ext cx="2451312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00" dirty="0" smtClean="0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Deliverables</a:t>
            </a:r>
            <a:endParaRPr lang="en-US" sz="3500" dirty="0">
              <a:solidFill>
                <a:srgbClr val="00357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77919" y="6586214"/>
            <a:ext cx="8903078" cy="1208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12470" lvl="1" indent="-356235">
              <a:lnSpc>
                <a:spcPts val="462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Embedded software for authentication and voting logic.</a:t>
            </a:r>
          </a:p>
          <a:p>
            <a:pPr marL="712470" lvl="1" indent="-356235">
              <a:lnSpc>
                <a:spcPts val="462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 and methodology documentation</a:t>
            </a:r>
            <a:r>
              <a:rPr lang="en-US" sz="28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lang="en-US" sz="2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88102" y="7956307"/>
            <a:ext cx="2230098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00" dirty="0" smtClean="0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Constraints</a:t>
            </a:r>
            <a:endParaRPr lang="en-US" sz="3500" dirty="0">
              <a:solidFill>
                <a:srgbClr val="00357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77311" y="8412478"/>
            <a:ext cx="7185365" cy="1703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12470" lvl="1" indent="-356235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Dependence on fingerprint sensor accuracy.</a:t>
            </a:r>
          </a:p>
          <a:p>
            <a:pPr marL="712470" lvl="1" indent="-356235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Prototype-level implementation.</a:t>
            </a:r>
          </a:p>
          <a:p>
            <a:endParaRPr lang="en-IN" sz="28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17447" y="7372841"/>
            <a:ext cx="8028675" cy="802867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645034" y="-990756"/>
            <a:ext cx="2230365" cy="223036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50210" y="124426"/>
            <a:ext cx="9014334" cy="943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  <a:spcBef>
                <a:spcPct val="0"/>
              </a:spcBef>
            </a:pPr>
            <a:r>
              <a:rPr lang="en-US" sz="4500" b="1" dirty="0">
                <a:solidFill>
                  <a:srgbClr val="0D30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 Breakdown Structure (WBS)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729" y="1281372"/>
            <a:ext cx="11112735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Requirement </a:t>
            </a:r>
            <a:r>
              <a:rPr lang="en-US" sz="35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sz="35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6562" y="1871136"/>
            <a:ext cx="9753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Study of existing voting systems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functional and security requirements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01080" y="3552192"/>
            <a:ext cx="1057635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Arduino, fingerprint sensor, LCD, voting buttons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logic, voting logic, data 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9942" y="2870045"/>
            <a:ext cx="333937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System </a:t>
            </a:r>
            <a:r>
              <a:rPr lang="en-IN" sz="35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en-IN" sz="35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43374" y="5206775"/>
            <a:ext cx="973208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Circuit assembly and interfacing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Implementation: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Fingerprint matching, voting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9365" y="4559782"/>
            <a:ext cx="3475631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5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US" sz="35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54285" y="6277378"/>
            <a:ext cx="4405745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5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43374" y="6908320"/>
            <a:ext cx="9144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Voting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duplicate-vote testing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handling and reliability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91505" y="8039100"/>
            <a:ext cx="4674678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5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3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&amp; Submission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43374" y="8670042"/>
            <a:ext cx="9144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evaluation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submission and viva preparation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42612" y="394769"/>
            <a:ext cx="6880458" cy="688045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523108" y="2540483"/>
            <a:ext cx="3517329" cy="351732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557588" y="7275227"/>
            <a:ext cx="1586288" cy="158628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722094"/>
              </p:ext>
            </p:extLst>
          </p:nvPr>
        </p:nvGraphicFramePr>
        <p:xfrm>
          <a:off x="2286000" y="1333500"/>
          <a:ext cx="12954000" cy="832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67200"/>
                <a:gridCol w="6400800"/>
              </a:tblGrid>
              <a:tr h="502920">
                <a:tc>
                  <a:txBody>
                    <a:bodyPr/>
                    <a:lstStyle/>
                    <a:p>
                      <a:r>
                        <a:rPr lang="en-IN" sz="3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</a:t>
                      </a:r>
                      <a:endParaRPr lang="en-IN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3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</a:t>
                      </a:r>
                      <a:endParaRPr lang="en-IN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3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Activities</a:t>
                      </a:r>
                      <a:endParaRPr lang="en-IN" sz="3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Requirement Analysis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 of existing voting systems, requirement identification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Design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 system architecture, block diagram design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 Design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Selection of components, circuit design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 Design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 design, flowcharts, algorithm preparation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 assembly and software coding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Hardware–software integration and debugging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&amp; Validation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Authentication testing, voting flow testing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 preparation, PPT </a:t>
                      </a:r>
                      <a:r>
                        <a:rPr lang="en-IN" sz="3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</a:t>
                      </a:r>
                      <a:r>
                        <a:rPr lang="en-IN" sz="3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Internal </a:t>
                      </a:r>
                      <a:r>
                        <a:rPr lang="en-US" sz="3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</a:t>
                      </a:r>
                      <a:r>
                        <a:rPr lang="en-US" sz="3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</a:t>
                      </a:r>
                      <a:r>
                        <a:rPr lang="en-US" sz="3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corrections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3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10</a:t>
                      </a:r>
                      <a:endParaRPr lang="en-IN" sz="3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Submission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submission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864036" y="324875"/>
            <a:ext cx="4710713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5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Timeline Schedule</a:t>
            </a:r>
            <a:endParaRPr lang="en-IN" sz="45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D1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60487" y="-1916547"/>
            <a:ext cx="14120094" cy="1412009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22038" y="-1115182"/>
            <a:ext cx="2230365" cy="223036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241116"/>
              </p:ext>
            </p:extLst>
          </p:nvPr>
        </p:nvGraphicFramePr>
        <p:xfrm>
          <a:off x="2563036" y="1638300"/>
          <a:ext cx="11773196" cy="734221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652927"/>
                <a:gridCol w="3429000"/>
                <a:gridCol w="3691269"/>
              </a:tblGrid>
              <a:tr h="838200">
                <a:tc>
                  <a:txBody>
                    <a:bodyPr/>
                    <a:lstStyle/>
                    <a:p>
                      <a:r>
                        <a:rPr lang="en-I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Quantity (Unit)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Estimated Cost (₹)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600584">
                <a:tc>
                  <a:txBody>
                    <a:bodyPr/>
                    <a:lstStyle/>
                    <a:p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Arduino Microcontroller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Unit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3800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600584">
                <a:tc>
                  <a:txBody>
                    <a:bodyPr/>
                    <a:lstStyle/>
                    <a:p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Fingerprint Sensor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Unit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</a:t>
                      </a:r>
                    </a:p>
                  </a:txBody>
                  <a:tcPr anchor="ctr"/>
                </a:tc>
              </a:tr>
              <a:tr h="600584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LCD Display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Unit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800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525511">
                <a:tc>
                  <a:txBody>
                    <a:bodyPr/>
                    <a:lstStyle/>
                    <a:p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Voting Buttons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600584">
                <a:tc>
                  <a:txBody>
                    <a:bodyPr/>
                    <a:lstStyle/>
                    <a:p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LEDs &amp; Buzzer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350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600584">
                <a:tc>
                  <a:txBody>
                    <a:bodyPr/>
                    <a:lstStyle/>
                    <a:p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Thermal Printer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Unit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2500</a:t>
                      </a:r>
                    </a:p>
                  </a:txBody>
                  <a:tcPr anchor="ctr"/>
                </a:tc>
              </a:tr>
              <a:tr h="610834">
                <a:tc>
                  <a:txBody>
                    <a:bodyPr/>
                    <a:lstStyle/>
                    <a:p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SMPS / Power Supply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Unit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960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515261">
                <a:tc>
                  <a:txBody>
                    <a:bodyPr/>
                    <a:lstStyle/>
                    <a:p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RTC &amp; SD Card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1680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930906">
                <a:tc>
                  <a:txBody>
                    <a:bodyPr/>
                    <a:lstStyle/>
                    <a:p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Connection Wires &amp; Miscellaneous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970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901708">
                <a:tc>
                  <a:txBody>
                    <a:bodyPr/>
                    <a:lstStyle/>
                    <a:p>
                      <a:r>
                        <a:rPr lang="en-IN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Estimated Cost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₹13,460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099930" y="761240"/>
            <a:ext cx="75350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Breakdown Structure (CBS)</a:t>
            </a:r>
            <a:endParaRPr lang="en-IN" sz="4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82408" y="-1670682"/>
            <a:ext cx="3517329" cy="351732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4400390" y="3641985"/>
            <a:ext cx="8028675" cy="802867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296514" y="2937077"/>
            <a:ext cx="1586288" cy="158628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646814" y="378468"/>
            <a:ext cx="3503075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5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Analysis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602613"/>
              </p:ext>
            </p:extLst>
          </p:nvPr>
        </p:nvGraphicFramePr>
        <p:xfrm>
          <a:off x="2875596" y="1516898"/>
          <a:ext cx="12406812" cy="7522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9004"/>
                <a:gridCol w="4822204"/>
                <a:gridCol w="4135604"/>
              </a:tblGrid>
              <a:tr h="883402">
                <a:tc>
                  <a:txBody>
                    <a:bodyPr/>
                    <a:lstStyle/>
                    <a:p>
                      <a:r>
                        <a:rPr lang="en-IN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</a:t>
                      </a:r>
                      <a:endParaRPr lang="en-IN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3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3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3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Mitigation</a:t>
                      </a:r>
                      <a:endParaRPr lang="en-IN" sz="3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1327907">
                <a:tc>
                  <a:txBody>
                    <a:bodyPr/>
                    <a:lstStyle/>
                    <a:p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Biometric Error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Fingerprint mismatch or scan failure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 scan attempts, sensor cleaning</a:t>
                      </a:r>
                    </a:p>
                  </a:txBody>
                  <a:tcPr anchor="ctr"/>
                </a:tc>
              </a:tr>
              <a:tr h="1327907">
                <a:tc>
                  <a:txBody>
                    <a:bodyPr/>
                    <a:lstStyle/>
                    <a:p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Failure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Sudden power interruption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SMPS with backup power</a:t>
                      </a:r>
                    </a:p>
                  </a:txBody>
                  <a:tcPr anchor="ctr"/>
                </a:tc>
              </a:tr>
              <a:tr h="1327907">
                <a:tc>
                  <a:txBody>
                    <a:bodyPr/>
                    <a:lstStyle/>
                    <a:p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 Fault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 or sensor failure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and spare components</a:t>
                      </a:r>
                    </a:p>
                  </a:txBody>
                  <a:tcPr anchor="ctr"/>
                </a:tc>
              </a:tr>
              <a:tr h="1327907">
                <a:tc>
                  <a:txBody>
                    <a:bodyPr/>
                    <a:lstStyle/>
                    <a:p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 Error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Bugs in authentication or voting 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Debugging and validation</a:t>
                      </a:r>
                    </a:p>
                  </a:txBody>
                  <a:tcPr anchor="ctr"/>
                </a:tc>
              </a:tr>
              <a:tr h="1327907">
                <a:tc>
                  <a:txBody>
                    <a:bodyPr/>
                    <a:lstStyle/>
                    <a:p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Unauthorized access or data loss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 storage and access control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5194" y="-1345629"/>
            <a:ext cx="3517329" cy="351732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4752735" y="-1384101"/>
            <a:ext cx="13341342" cy="1334134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259300" y="3262130"/>
            <a:ext cx="1586288" cy="158628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1350335" y="2354189"/>
            <a:ext cx="1165094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Waterfall Model with Sequential Development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phase is completed one after another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hardware-based embedded systems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stable design, controlled implementation, and proper documentation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90600" y="1549522"/>
            <a:ext cx="4457567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00" dirty="0" smtClean="0">
                <a:solidFill>
                  <a:srgbClr val="314E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Approach</a:t>
            </a:r>
            <a:endParaRPr lang="en-US" sz="3500" dirty="0">
              <a:solidFill>
                <a:srgbClr val="314EA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86276" y="5460014"/>
            <a:ext cx="1233799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Analysis: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Identification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system requirements and security needs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Hardware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software architecture design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Hardware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assembly and embedded software coding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Integration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all hardware and software modules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Verification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authentication and voting process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Preparation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report, PPT, and demo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materials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38920" y="4741353"/>
            <a:ext cx="226536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00" dirty="0" smtClean="0">
                <a:solidFill>
                  <a:srgbClr val="314E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Phases</a:t>
            </a:r>
            <a:endParaRPr lang="en-US" sz="3500" dirty="0">
              <a:solidFill>
                <a:srgbClr val="314EA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07675" y="571500"/>
            <a:ext cx="3422732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500" b="1" dirty="0">
                <a:solidFill>
                  <a:srgbClr val="430DC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4500" dirty="0">
              <a:solidFill>
                <a:srgbClr val="430DC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/>
          <p:nvPr/>
        </p:nvGrpSpPr>
        <p:grpSpPr>
          <a:xfrm>
            <a:off x="1981200" y="9617740"/>
            <a:ext cx="1212199" cy="1246375"/>
            <a:chOff x="0" y="0"/>
            <a:chExt cx="812800" cy="812800"/>
          </a:xfrm>
        </p:grpSpPr>
        <p:sp>
          <p:nvSpPr>
            <p:cNvPr id="3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id="4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6"/>
          <p:cNvGrpSpPr/>
          <p:nvPr/>
        </p:nvGrpSpPr>
        <p:grpSpPr>
          <a:xfrm>
            <a:off x="-1468553" y="8399372"/>
            <a:ext cx="2513081" cy="2513081"/>
            <a:chOff x="0" y="0"/>
            <a:chExt cx="812800" cy="812800"/>
          </a:xfrm>
        </p:grpSpPr>
        <p:sp>
          <p:nvSpPr>
            <p:cNvPr id="6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id="7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5"/>
          <p:cNvGrpSpPr/>
          <p:nvPr/>
        </p:nvGrpSpPr>
        <p:grpSpPr>
          <a:xfrm>
            <a:off x="12572998" y="-47289"/>
            <a:ext cx="10631977" cy="10342557"/>
            <a:chOff x="0" y="38100"/>
            <a:chExt cx="812800" cy="774700"/>
          </a:xfrm>
        </p:grpSpPr>
        <p:sp>
          <p:nvSpPr>
            <p:cNvPr id="9" name="Freeform 6"/>
            <p:cNvSpPr/>
            <p:nvPr/>
          </p:nvSpPr>
          <p:spPr>
            <a:xfrm>
              <a:off x="0" y="38100"/>
              <a:ext cx="812800" cy="7747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id="10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470157" y="266700"/>
            <a:ext cx="4614533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500" b="1" dirty="0">
                <a:solidFill>
                  <a:srgbClr val="430DC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4500" dirty="0">
              <a:solidFill>
                <a:srgbClr val="430DC9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3304" y="1856552"/>
            <a:ext cx="1361315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Manual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Voting 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System: Paper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ballots with manual verification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Voting Machines (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EVMs): Electronic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vote recording without biometric security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 Card–Based 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Verification: Voter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 or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Aadhaar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manual 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checking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0536" y="1255109"/>
            <a:ext cx="39594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rgbClr val="4F74B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</a:t>
            </a:r>
            <a:r>
              <a:rPr lang="en-IN" sz="3200" b="1" dirty="0" smtClean="0">
                <a:solidFill>
                  <a:srgbClr val="4F74B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  <a:endParaRPr lang="en-IN" sz="3200" b="1" dirty="0">
              <a:solidFill>
                <a:srgbClr val="4F74B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3028" y="3389667"/>
            <a:ext cx="32117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IN" sz="3200" b="1" dirty="0">
                <a:solidFill>
                  <a:srgbClr val="4F74B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solidFill>
                  <a:srgbClr val="4F74B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Papers </a:t>
            </a:r>
            <a:endParaRPr lang="en-IN" sz="3200" b="1" dirty="0">
              <a:solidFill>
                <a:srgbClr val="4F74B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20938" y="4026536"/>
            <a:ext cx="1282621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Voting Machine Authentication using Biometric Information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Proposed fingerprint-based voter authentication to improve voting security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Introduction to Biometric Recognition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Explains biometric technologies and their effectiveness in identity verification.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0536" y="6104354"/>
            <a:ext cx="31910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IN" sz="3200" b="1" dirty="0">
                <a:solidFill>
                  <a:srgbClr val="4F74B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</a:t>
            </a:r>
            <a:r>
              <a:rPr lang="en-IN" sz="3200" b="1" dirty="0" smtClean="0">
                <a:solidFill>
                  <a:srgbClr val="4F74B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Gaps</a:t>
            </a:r>
            <a:endParaRPr lang="en-IN" sz="3200" b="1" dirty="0">
              <a:solidFill>
                <a:srgbClr val="4F74B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20938" y="6720394"/>
            <a:ext cx="991649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biometric-based voter authentication in existing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transparency and audit capability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8926" y="7932398"/>
            <a:ext cx="33784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IN" sz="3200" b="1" dirty="0">
                <a:solidFill>
                  <a:srgbClr val="4F74B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</a:t>
            </a:r>
            <a:r>
              <a:rPr lang="en-IN" sz="3200" b="1" dirty="0" smtClean="0">
                <a:solidFill>
                  <a:srgbClr val="4F74B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IN" sz="3200" b="1" dirty="0">
              <a:solidFill>
                <a:srgbClr val="4F74B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79970" y="8517173"/>
            <a:ext cx="827662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secure electronic voting through push buttons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duplicate voting by updating voter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</p:txBody>
      </p:sp>
    </p:spTree>
    <p:extLst>
      <p:ext uri="{BB962C8B-B14F-4D97-AF65-F5344CB8AC3E}">
        <p14:creationId xmlns:p14="http://schemas.microsoft.com/office/powerpoint/2010/main" val="4082013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D1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51248" y="-2781300"/>
            <a:ext cx="16040420" cy="1604042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076091" y="710993"/>
            <a:ext cx="2513081" cy="251308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94033" y="8555461"/>
            <a:ext cx="1586288" cy="1586288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62000" y="710993"/>
            <a:ext cx="2941831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500" b="1" dirty="0">
                <a:solidFill>
                  <a:srgbClr val="430DC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500" dirty="0">
              <a:solidFill>
                <a:srgbClr val="430DC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24000" y="2328499"/>
            <a:ext cx="7172156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Fingerprint-based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biometric authentication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electronic voting mechanism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Prevention of duplicate and fraudulent voting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of voter details for verification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Receipt generation after successful voting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human intervention and errors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transparency and voter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trust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07499" y="1652062"/>
            <a:ext cx="3066865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00" b="1" dirty="0">
                <a:solidFill>
                  <a:srgbClr val="4F74B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US" sz="3500" b="1" dirty="0" smtClean="0">
                <a:solidFill>
                  <a:srgbClr val="4F74B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Highlights</a:t>
            </a:r>
            <a:endParaRPr lang="en-US" sz="3500" b="1" dirty="0">
              <a:solidFill>
                <a:srgbClr val="4F74B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24000" y="6356771"/>
            <a:ext cx="1015855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cloud-based central voter database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Addition of multi-biometric authentication (face / iris recognition)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Online and remote voting with secure authentication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integration for voter verification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result monitoring and analytics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data encryption and cybersecurity measures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499" y="5731758"/>
            <a:ext cx="273177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00" b="1" dirty="0">
                <a:solidFill>
                  <a:srgbClr val="4F74B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</a:t>
            </a:r>
            <a:r>
              <a:rPr lang="en-US" sz="3500" b="1" dirty="0" smtClean="0">
                <a:solidFill>
                  <a:srgbClr val="4F74B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lang="en-US" sz="3500" b="1" dirty="0">
              <a:solidFill>
                <a:srgbClr val="4F74B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694</TotalTime>
  <Words>694</Words>
  <Application>Microsoft Office PowerPoint</Application>
  <PresentationFormat>Custom</PresentationFormat>
  <Paragraphs>176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VIDYAVARDHAKA POLYTECHNIC MYSORE Gokulam III Stage Mysore</dc:title>
  <cp:lastModifiedBy>ABC</cp:lastModifiedBy>
  <cp:revision>43</cp:revision>
  <dcterms:created xsi:type="dcterms:W3CDTF">2006-08-16T00:00:00Z</dcterms:created>
  <dcterms:modified xsi:type="dcterms:W3CDTF">2026-02-04T18:59:08Z</dcterms:modified>
  <dc:identifier>DAHARAoSm9k</dc:identifier>
</cp:coreProperties>
</file>